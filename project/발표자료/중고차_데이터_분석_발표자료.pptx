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Malgun Gothic"/>
              </a:defRPr>
            </a:pPr>
            <a:r>
              <a:t>브랜드별 평균 가격 (백만원)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평균 가격 (백만원)</c:v>
                </c:pt>
              </c:strCache>
            </c:strRef>
          </c:tx>
          <c:spPr>
            <a:solidFill>
              <a:srgbClr val="1976D2"/>
            </a:solidFill>
          </c:spPr>
          <c:cat>
            <c:strRef>
              <c:f>Sheet1!$A$2:$A$7</c:f>
              <c:strCache>
                <c:ptCount val="6"/>
                <c:pt idx="0">
                  <c:v>Porsche</c:v>
                </c:pt>
                <c:pt idx="1">
                  <c:v>Land Rover</c:v>
                </c:pt>
                <c:pt idx="2">
                  <c:v>Cadillac</c:v>
                </c:pt>
                <c:pt idx="3">
                  <c:v>Mercedes-Benz</c:v>
                </c:pt>
                <c:pt idx="4">
                  <c:v>GMC</c:v>
                </c:pt>
                <c:pt idx="5">
                  <c:v>BMW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149.0</c:v>
                </c:pt>
                <c:pt idx="1">
                  <c:v>129.0</c:v>
                </c:pt>
                <c:pt idx="2">
                  <c:v>109.0</c:v>
                </c:pt>
                <c:pt idx="3">
                  <c:v>104.0</c:v>
                </c:pt>
                <c:pt idx="4">
                  <c:v>91.0</c:v>
                </c:pt>
                <c:pt idx="5">
                  <c:v>87.0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Malgun Gothi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numFmt formatCode="#,##0,,&quot;백만원&quot;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Malgun Gothic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연식별 평균 가격 추세 (백만원)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가격 (백만원)</c:v>
                </c:pt>
              </c:strCache>
            </c:strRef>
          </c:tx>
          <c:spPr>
            <a:ln w="31750">
              <a:solidFill>
                <a:srgbClr val="E88741"/>
              </a:solidFill>
            </a:ln>
          </c:spPr>
          <c:cat>
            <c:strRef>
              <c:f>Sheet1!$A$2:$A$13</c:f>
              <c:strCache>
                <c:ptCount val="12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  <c:pt idx="11">
                  <c:v>2026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47.0</c:v>
                </c:pt>
                <c:pt idx="1">
                  <c:v>56.0</c:v>
                </c:pt>
                <c:pt idx="2">
                  <c:v>62.0</c:v>
                </c:pt>
                <c:pt idx="3">
                  <c:v>78.0</c:v>
                </c:pt>
                <c:pt idx="4">
                  <c:v>77.0</c:v>
                </c:pt>
                <c:pt idx="5">
                  <c:v>89.0</c:v>
                </c:pt>
                <c:pt idx="6">
                  <c:v>100.0</c:v>
                </c:pt>
                <c:pt idx="7">
                  <c:v>104.0</c:v>
                </c:pt>
                <c:pt idx="8">
                  <c:v>132.0</c:v>
                </c:pt>
                <c:pt idx="9">
                  <c:v>82.0</c:v>
                </c:pt>
                <c:pt idx="10">
                  <c:v>98.0</c:v>
                </c:pt>
                <c:pt idx="11">
                  <c:v>88.0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,,&quot;백만원&quot;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384048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BCD2E6"/>
                </a:solidFill>
                <a:latin typeface="Malgun Gothic"/>
              </a:rPr>
              <a:t>BIGDATA FINAL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8046720" cy="16916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Malgun Gothic"/>
              </a:rPr>
              <a:t>이 중고차,
지금 가격이 괜찮은 걸까?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816352"/>
            <a:ext cx="8046720" cy="4114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700" b="0">
                <a:solidFill>
                  <a:srgbClr val="DAE4EC"/>
                </a:solidFill>
                <a:latin typeface="Malgun Gothic"/>
              </a:rPr>
              <a:t>매물 데이터를 분석하고, 조건별 참고 가격을 확인하는 Streamlit 서비스를 만들었습니다.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3977639"/>
            <a:ext cx="2468880" cy="1115568"/>
          </a:xfrm>
          <a:prstGeom prst="roundRect">
            <a:avLst/>
          </a:prstGeom>
          <a:solidFill>
            <a:srgbClr val="EBF4FB"/>
          </a:solidFill>
          <a:ln w="12700">
            <a:solidFill>
              <a:srgbClr val="D6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4123943"/>
            <a:ext cx="2139696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02337"/>
                </a:solidFill>
                <a:latin typeface="Malgun Gothic"/>
              </a:rPr>
              <a:t>9,273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507991"/>
            <a:ext cx="2139696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B6770"/>
                </a:solidFill>
                <a:latin typeface="Malgun Gothic"/>
              </a:rPr>
              <a:t>확장 데이터 행 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4800599"/>
            <a:ext cx="2139696" cy="29260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770"/>
                </a:solidFill>
                <a:latin typeface="Malgun Gothic"/>
              </a:rPr>
              <a:t>Kaggle 4,009행 + 보조 샘플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3977639"/>
            <a:ext cx="2468880" cy="1115568"/>
          </a:xfrm>
          <a:prstGeom prst="roundRect">
            <a:avLst/>
          </a:prstGeom>
          <a:solidFill>
            <a:srgbClr val="FFF1E5"/>
          </a:solidFill>
          <a:ln w="12700">
            <a:solidFill>
              <a:srgbClr val="D6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4123943"/>
            <a:ext cx="2139696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02337"/>
                </a:solidFill>
                <a:latin typeface="Malgun Gothic"/>
              </a:rPr>
              <a:t>핵심 4단계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4507991"/>
            <a:ext cx="2139696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B6770"/>
                </a:solidFill>
                <a:latin typeface="Malgun Gothic"/>
              </a:rPr>
              <a:t>발표 흐름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4800599"/>
            <a:ext cx="2139696" cy="29260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770"/>
                </a:solidFill>
                <a:latin typeface="Malgun Gothic"/>
              </a:rPr>
              <a:t>EDA→시각화→예측→추천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3977639"/>
            <a:ext cx="2468880" cy="1115568"/>
          </a:xfrm>
          <a:prstGeom prst="roundRect">
            <a:avLst/>
          </a:prstGeom>
          <a:solidFill>
            <a:srgbClr val="E9F6EF"/>
          </a:solidFill>
          <a:ln w="12700">
            <a:solidFill>
              <a:srgbClr val="D6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4123943"/>
            <a:ext cx="2139696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02337"/>
                </a:solidFill>
                <a:latin typeface="Malgun Gothic"/>
              </a:rPr>
              <a:t>R² 0.677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507991"/>
            <a:ext cx="2139696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B6770"/>
                </a:solidFill>
                <a:latin typeface="Malgun Gothic"/>
              </a:rPr>
              <a:t>예측 모델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800599"/>
            <a:ext cx="2139696" cy="29260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770"/>
                </a:solidFill>
                <a:latin typeface="Malgun Gothic"/>
              </a:rPr>
              <a:t>RandomForestRegressor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6080760"/>
            <a:ext cx="274320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DAE4EC"/>
                </a:solidFill>
                <a:latin typeface="Malgun Gothic"/>
              </a:rPr>
              <a:t>발표자: 프로젝트 제출자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47472"/>
            <a:ext cx="109728" cy="109728"/>
          </a:xfrm>
          <a:prstGeom prst="rect">
            <a:avLst/>
          </a:prstGeom>
          <a:solidFill>
            <a:srgbClr val="E88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83464"/>
            <a:ext cx="292608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5B6770"/>
                </a:solidFill>
                <a:latin typeface="Malgun Gothic"/>
              </a:rPr>
              <a:t>문제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274320"/>
            <a:ext cx="54864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  <a:latin typeface="Malgun Gothic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8138160" cy="7772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8202A"/>
                </a:solidFill>
                <a:latin typeface="Malgun Gothic"/>
              </a:rPr>
              <a:t>중고차 가격은 숫자 하나만 보고 판단하기 어렵습니다.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89888"/>
            <a:ext cx="8869680" cy="4114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770"/>
                </a:solidFill>
                <a:latin typeface="Malgun Gothic"/>
              </a:rPr>
              <a:t>같은 브랜드라도 연식, 주행거리, 사고 이력에 따라 가격 차이가 커짐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1965960" cy="621792"/>
          </a:xfrm>
          <a:prstGeom prst="roundRect">
            <a:avLst/>
          </a:prstGeom>
          <a:solidFill>
            <a:srgbClr val="EAF4EE"/>
          </a:solidFill>
          <a:ln w="12700">
            <a:solidFill>
              <a:srgbClr val="D6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203704"/>
            <a:ext cx="1636776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300" b="1">
                <a:solidFill>
                  <a:srgbClr val="2F8C5C"/>
                </a:solidFill>
                <a:latin typeface="Malgun Gothic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587752"/>
            <a:ext cx="1636776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B6770"/>
                </a:solidFill>
                <a:latin typeface="Malgun Gothic"/>
              </a:rPr>
              <a:t>비교 기준 부족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203704"/>
            <a:ext cx="694944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800" b="0">
                <a:solidFill>
                  <a:srgbClr val="18202A"/>
                </a:solidFill>
                <a:latin typeface="Malgun Gothic"/>
              </a:rPr>
              <a:t>매물 가격이 싼지 비싼지 바로 판단하기 어려움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898648"/>
            <a:ext cx="1965960" cy="621792"/>
          </a:xfrm>
          <a:prstGeom prst="roundRect">
            <a:avLst/>
          </a:prstGeom>
          <a:solidFill>
            <a:srgbClr val="EAF4EE"/>
          </a:solidFill>
          <a:ln w="12700">
            <a:solidFill>
              <a:srgbClr val="D6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044952"/>
            <a:ext cx="1636776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300" b="1">
                <a:solidFill>
                  <a:srgbClr val="2F8C5C"/>
                </a:solidFill>
                <a:latin typeface="Malgun Gothic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429000"/>
            <a:ext cx="1636776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B6770"/>
                </a:solidFill>
                <a:latin typeface="Malgun Gothic"/>
              </a:rPr>
              <a:t>조건 조합 복잡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044952"/>
            <a:ext cx="694944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800" b="0">
                <a:solidFill>
                  <a:srgbClr val="18202A"/>
                </a:solidFill>
                <a:latin typeface="Malgun Gothic"/>
              </a:rPr>
              <a:t>브랜드, 모델, 연식, 주행거리가 함께 작용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39896"/>
            <a:ext cx="1965960" cy="621792"/>
          </a:xfrm>
          <a:prstGeom prst="roundRect">
            <a:avLst/>
          </a:prstGeom>
          <a:solidFill>
            <a:srgbClr val="EAF4EE"/>
          </a:solidFill>
          <a:ln w="12700">
            <a:solidFill>
              <a:srgbClr val="D6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886200"/>
            <a:ext cx="1636776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300" b="1">
                <a:solidFill>
                  <a:srgbClr val="2F8C5C"/>
                </a:solidFill>
                <a:latin typeface="Malgun Gothic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270248"/>
            <a:ext cx="1636776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B6770"/>
                </a:solidFill>
                <a:latin typeface="Malgun Gothic"/>
              </a:rPr>
              <a:t>평균의 함정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3886200"/>
            <a:ext cx="694944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800" b="0">
                <a:solidFill>
                  <a:srgbClr val="18202A"/>
                </a:solidFill>
                <a:latin typeface="Malgun Gothic"/>
              </a:rPr>
              <a:t>초고가 매물이 섞이면 일반 가격대가 흐려짐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581144"/>
            <a:ext cx="1965960" cy="621792"/>
          </a:xfrm>
          <a:prstGeom prst="roundRect">
            <a:avLst/>
          </a:prstGeom>
          <a:solidFill>
            <a:srgbClr val="EAF4EE"/>
          </a:solidFill>
          <a:ln w="12700">
            <a:solidFill>
              <a:srgbClr val="D6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727448"/>
            <a:ext cx="1636776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300" b="1">
                <a:solidFill>
                  <a:srgbClr val="2F8C5C"/>
                </a:solidFill>
                <a:latin typeface="Malgun Gothic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5111496"/>
            <a:ext cx="1636776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B6770"/>
                </a:solidFill>
                <a:latin typeface="Malgun Gothic"/>
              </a:rPr>
              <a:t>앱으로 해결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4727448"/>
            <a:ext cx="694944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800" b="0">
                <a:solidFill>
                  <a:srgbClr val="18202A"/>
                </a:solidFill>
                <a:latin typeface="Malgun Gothic"/>
              </a:rPr>
              <a:t>조건 입력 → 예측 가격 → 유사 매물 비교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532120"/>
            <a:ext cx="10149840" cy="6858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B6770"/>
                </a:solidFill>
                <a:latin typeface="Malgun Gothic"/>
              </a:defRPr>
            </a:pPr>
            <a:r>
              <a:t>핵심 질문: 입력한 차량 조건이 시장 데이터 안에서 어느 정도 가격대로 보이는가?</a:t>
            </a:r>
          </a:p>
          <a:p>
            <a:pPr>
              <a:spcAft>
                <a:spcPts val="600"/>
              </a:spcAft>
              <a:defRPr sz="1400">
                <a:solidFill>
                  <a:srgbClr val="5B6770"/>
                </a:solidFill>
                <a:latin typeface="Malgun Gothic"/>
              </a:defRPr>
            </a:pPr>
            <a:r>
              <a:t>발표 흐름: 데이터 준비 → EDA 발견 → 예측 모델 → 앱 시연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47472"/>
            <a:ext cx="109728" cy="109728"/>
          </a:xfrm>
          <a:prstGeom prst="rect">
            <a:avLst/>
          </a:prstGeom>
          <a:solidFill>
            <a:srgbClr val="E88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83464"/>
            <a:ext cx="292608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5B6770"/>
                </a:solidFill>
                <a:latin typeface="Malgun Gothic"/>
              </a:rPr>
              <a:t>데이터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274320"/>
            <a:ext cx="54864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  <a:latin typeface="Malgun Gothic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8138160" cy="7772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8202A"/>
                </a:solidFill>
                <a:latin typeface="Malgun Gothic"/>
              </a:rPr>
              <a:t>Kaggle 중고차 매물 데이터를 기본으로 사용하고, 최신 연식 경향 참고용 샘플과 외부 정보를 보조로 붙였습니다.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89888"/>
            <a:ext cx="8869680" cy="4114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770"/>
                </a:solidFill>
                <a:latin typeface="Malgun Gothic"/>
              </a:rPr>
              <a:t>가격 예측은 매물 조건 중심, 추천과 판독은 연비·리콜 정보까지 참고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2331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66544"/>
            <a:ext cx="2002536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8202A"/>
                </a:solidFill>
                <a:latin typeface="Malgun Gothic"/>
              </a:rPr>
              <a:t>4,009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50592"/>
            <a:ext cx="2002536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B6770"/>
                </a:solidFill>
                <a:latin typeface="Malgun Gothic"/>
              </a:rPr>
              <a:t>Kaggle 원본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743200"/>
            <a:ext cx="2002536" cy="29260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770"/>
                </a:solidFill>
                <a:latin typeface="Malgun Gothic"/>
              </a:rPr>
              <a:t>Used Car Price Prediction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920240"/>
            <a:ext cx="2331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02152" y="2066544"/>
            <a:ext cx="2002536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8202A"/>
                </a:solidFill>
                <a:latin typeface="Malgun Gothic"/>
              </a:rPr>
              <a:t>9,273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450592"/>
            <a:ext cx="2002536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B6770"/>
                </a:solidFill>
                <a:latin typeface="Malgun Gothic"/>
              </a:rPr>
              <a:t>확장 데이터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743200"/>
            <a:ext cx="2002536" cy="29260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770"/>
                </a:solidFill>
                <a:latin typeface="Malgun Gothic"/>
              </a:rPr>
              <a:t>앱에서 사용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1920240"/>
            <a:ext cx="2331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08192" y="2066544"/>
            <a:ext cx="2002536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8202A"/>
                </a:solidFill>
                <a:latin typeface="Malgun Gothic"/>
              </a:rPr>
              <a:t>4,296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08192" y="2450592"/>
            <a:ext cx="2002536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B6770"/>
                </a:solidFill>
                <a:latin typeface="Malgun Gothic"/>
              </a:rPr>
              <a:t>EPA 매칭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08192" y="2743200"/>
            <a:ext cx="2002536" cy="29260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770"/>
                </a:solidFill>
                <a:latin typeface="Malgun Gothic"/>
              </a:rPr>
              <a:t>연비/연료 비용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1920240"/>
            <a:ext cx="2331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066544"/>
            <a:ext cx="2002536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8202A"/>
                </a:solidFill>
                <a:latin typeface="Malgun Gothic"/>
              </a:rPr>
              <a:t>4,079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4232" y="2450592"/>
            <a:ext cx="2002536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B6770"/>
                </a:solidFill>
                <a:latin typeface="Malgun Gothic"/>
              </a:rPr>
              <a:t>NHTSA 매칭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14232" y="2743200"/>
            <a:ext cx="2002536" cy="29260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770"/>
                </a:solidFill>
                <a:latin typeface="Malgun Gothic"/>
              </a:rPr>
              <a:t>리콜 위험 참고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160520"/>
            <a:ext cx="2423160" cy="960120"/>
          </a:xfrm>
          <a:prstGeom prst="roundRect">
            <a:avLst/>
          </a:prstGeom>
          <a:solidFill>
            <a:srgbClr val="F5F7FA"/>
          </a:solidFill>
          <a:ln>
            <a:solidFill>
              <a:srgbClr val="D6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4288536"/>
            <a:ext cx="2167128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8202A"/>
                </a:solidFill>
                <a:latin typeface="Malgun Gothic"/>
              </a:rPr>
              <a:t>Kaggle 매물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4599432"/>
            <a:ext cx="2167128" cy="4297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770"/>
                </a:solidFill>
                <a:latin typeface="Malgun Gothic"/>
              </a:rPr>
              <a:t>브랜드, 모델, 연식, 주행거리, 가격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47288" y="4160520"/>
            <a:ext cx="2423160" cy="960120"/>
          </a:xfrm>
          <a:prstGeom prst="roundRect">
            <a:avLst/>
          </a:prstGeom>
          <a:solidFill>
            <a:srgbClr val="EBF4FB"/>
          </a:solidFill>
          <a:ln>
            <a:solidFill>
              <a:srgbClr val="D6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75304" y="4288536"/>
            <a:ext cx="2167128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8202A"/>
                </a:solidFill>
                <a:latin typeface="Malgun Gothic"/>
              </a:rPr>
              <a:t>CARFAX 샘플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75304" y="4599432"/>
            <a:ext cx="2167128" cy="4297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770"/>
                </a:solidFill>
                <a:latin typeface="Malgun Gothic"/>
              </a:rPr>
              <a:t>최신 연식 경향 참고용 보조 데이터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154680" y="4640580.0"/>
            <a:ext cx="292608" cy="0.0"/>
          </a:xfrm>
          <a:prstGeom prst="line">
            <a:avLst/>
          </a:prstGeom>
          <a:ln w="19050">
            <a:solidFill>
              <a:srgbClr val="5B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163056" y="4160520"/>
            <a:ext cx="2423160" cy="960120"/>
          </a:xfrm>
          <a:prstGeom prst="roundRect">
            <a:avLst/>
          </a:prstGeom>
          <a:solidFill>
            <a:srgbClr val="FFF1E5"/>
          </a:solidFill>
          <a:ln>
            <a:solidFill>
              <a:srgbClr val="D6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1072" y="4288536"/>
            <a:ext cx="2167128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8202A"/>
                </a:solidFill>
                <a:latin typeface="Malgun Gothic"/>
              </a:rPr>
              <a:t>EPA/NHTSA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91072" y="4599432"/>
            <a:ext cx="2167128" cy="4297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770"/>
                </a:solidFill>
                <a:latin typeface="Malgun Gothic"/>
              </a:rPr>
              <a:t>브랜드·모델·연식 기준 가능한 항목 매칭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870448" y="4640580.0"/>
            <a:ext cx="292608" cy="0.0"/>
          </a:xfrm>
          <a:prstGeom prst="line">
            <a:avLst/>
          </a:prstGeom>
          <a:ln w="19050">
            <a:solidFill>
              <a:srgbClr val="5B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878824" y="4160520"/>
            <a:ext cx="2423160" cy="960120"/>
          </a:xfrm>
          <a:prstGeom prst="roundRect">
            <a:avLst/>
          </a:prstGeom>
          <a:solidFill>
            <a:srgbClr val="E9F6EF"/>
          </a:solidFill>
          <a:ln>
            <a:solidFill>
              <a:srgbClr val="D6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6840" y="4288536"/>
            <a:ext cx="2167128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8202A"/>
                </a:solidFill>
                <a:latin typeface="Malgun Gothic"/>
              </a:rPr>
              <a:t>앱 기능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6840" y="4599432"/>
            <a:ext cx="2167128" cy="4297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770"/>
                </a:solidFill>
                <a:latin typeface="Malgun Gothic"/>
              </a:rPr>
              <a:t>가격 예측, 추천, 구입 판독에 사용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586216" y="4640580.0"/>
            <a:ext cx="292608" cy="0.0"/>
          </a:xfrm>
          <a:prstGeom prst="line">
            <a:avLst/>
          </a:prstGeom>
          <a:ln w="19050">
            <a:solidFill>
              <a:srgbClr val="5B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85216" y="6345936"/>
            <a:ext cx="109728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5B6770"/>
                </a:solidFill>
                <a:latin typeface="Malgun Gothic"/>
              </a:rPr>
              <a:t>Source: Kaggle - Used Car Price Prediction Dataset by Taeef Najib
Additional data: CARFAX sample, EPA vehicle data, NHTSA recall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47472"/>
            <a:ext cx="109728" cy="109728"/>
          </a:xfrm>
          <a:prstGeom prst="rect">
            <a:avLst/>
          </a:prstGeom>
          <a:solidFill>
            <a:srgbClr val="E88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83464"/>
            <a:ext cx="292608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5B6770"/>
                </a:solidFill>
                <a:latin typeface="Malgun Gothic"/>
              </a:rPr>
              <a:t>분석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274320"/>
            <a:ext cx="54864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  <a:latin typeface="Malgun Gothic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8138160" cy="7772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8202A"/>
                </a:solidFill>
                <a:latin typeface="Malgun Gothic"/>
              </a:rPr>
              <a:t>가격을 세 가지 관점으로 나눠서 봤습니다.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89888"/>
            <a:ext cx="8869680" cy="4114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770"/>
                </a:solidFill>
                <a:latin typeface="Malgun Gothic"/>
              </a:rPr>
              <a:t>가격 자체, 차량 조건, 외부 위험 정보를 함께 비교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4800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112264"/>
            <a:ext cx="4471416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976D2"/>
                </a:solidFill>
                <a:latin typeface="Malgun Gothic"/>
              </a:rPr>
              <a:t>가격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96312"/>
            <a:ext cx="4471416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B6770"/>
                </a:solidFill>
                <a:latin typeface="Malgun Gothic"/>
              </a:rPr>
              <a:t>매물 가격과 분포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788920"/>
            <a:ext cx="4471416" cy="29260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770"/>
                </a:solidFill>
                <a:latin typeface="Malgun Gothic"/>
              </a:rPr>
              <a:t>평균보다 일반 가격대와 이상치를 구분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965960"/>
            <a:ext cx="4800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2112264"/>
            <a:ext cx="4471416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976D2"/>
                </a:solidFill>
                <a:latin typeface="Malgun Gothic"/>
              </a:rPr>
              <a:t>차량 조건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2496312"/>
            <a:ext cx="4471416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B6770"/>
                </a:solidFill>
                <a:latin typeface="Malgun Gothic"/>
              </a:rPr>
              <a:t>브랜드·모델·연식·주행거리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2788920"/>
            <a:ext cx="4471416" cy="29260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770"/>
                </a:solidFill>
                <a:latin typeface="Malgun Gothic"/>
              </a:rPr>
              <a:t>가격을 흔드는 핵심 입력값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337560"/>
            <a:ext cx="4800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483864"/>
            <a:ext cx="4471416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300" b="1">
                <a:solidFill>
                  <a:srgbClr val="2F8C5C"/>
                </a:solidFill>
                <a:latin typeface="Malgun Gothic"/>
              </a:rPr>
              <a:t>상태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3867912"/>
            <a:ext cx="4471416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B6770"/>
                </a:solidFill>
                <a:latin typeface="Malgun Gothic"/>
              </a:rPr>
              <a:t>사고 이력·클린 타이틀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160520"/>
            <a:ext cx="4471416" cy="29260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770"/>
                </a:solidFill>
                <a:latin typeface="Malgun Gothic"/>
              </a:rPr>
              <a:t>같은 조건 안에서 가격 차이를 설명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337560"/>
            <a:ext cx="4800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3483864"/>
            <a:ext cx="4471416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300" b="1">
                <a:solidFill>
                  <a:srgbClr val="2F8C5C"/>
                </a:solidFill>
                <a:latin typeface="Malgun Gothic"/>
              </a:rPr>
              <a:t>외부 정보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3867912"/>
            <a:ext cx="4471416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B6770"/>
                </a:solidFill>
                <a:latin typeface="Malgun Gothic"/>
              </a:rPr>
              <a:t>EPA 연비·NHTSA 리콜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4160520"/>
            <a:ext cx="4471416" cy="29260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770"/>
                </a:solidFill>
                <a:latin typeface="Malgun Gothic"/>
              </a:rPr>
              <a:t>추천과 구입 판독에서 참고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74920"/>
            <a:ext cx="256032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8202A"/>
                </a:solidFill>
                <a:latin typeface="Malgun Gothic"/>
              </a:rPr>
              <a:t>발표에서 전제로 둘 부분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94960"/>
            <a:ext cx="10424160" cy="10515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8202A"/>
                </a:solidFill>
                <a:latin typeface="Malgun Gothic"/>
              </a:defRPr>
            </a:pPr>
            <a:r>
              <a:t>• 실시간 시세 서비스가 아니라 샘플 데이터 기반 참고 서비스</a:t>
            </a:r>
          </a:p>
          <a:p>
            <a:pPr>
              <a:spcAft>
                <a:spcPts val="600"/>
              </a:spcAft>
              <a:defRPr sz="1300">
                <a:solidFill>
                  <a:srgbClr val="18202A"/>
                </a:solidFill>
                <a:latin typeface="Malgun Gothic"/>
              </a:defRPr>
            </a:pPr>
            <a:r>
              <a:t>• 모델 결과는 감정가가 아니라 조건별 기준선으로 해석</a:t>
            </a:r>
          </a:p>
          <a:p>
            <a:pPr>
              <a:spcAft>
                <a:spcPts val="600"/>
              </a:spcAft>
              <a:defRPr sz="1300">
                <a:solidFill>
                  <a:srgbClr val="18202A"/>
                </a:solidFill>
                <a:latin typeface="Malgun Gothic"/>
              </a:defRPr>
            </a:pPr>
            <a:r>
              <a:t>• 매칭되지 않은 외부 정보는 Unknown 또는 결측값으로 처리</a:t>
            </a:r>
          </a:p>
          <a:p>
            <a:pPr>
              <a:spcAft>
                <a:spcPts val="600"/>
              </a:spcAft>
              <a:defRPr sz="1300">
                <a:solidFill>
                  <a:srgbClr val="18202A"/>
                </a:solidFill>
                <a:latin typeface="Malgun Gothic"/>
              </a:defRPr>
            </a:pPr>
            <a:r>
              <a:t>• 한국 기준 보정은 발표 핵심이 아니라 보조 비교 기능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47472"/>
            <a:ext cx="109728" cy="109728"/>
          </a:xfrm>
          <a:prstGeom prst="rect">
            <a:avLst/>
          </a:prstGeom>
          <a:solidFill>
            <a:srgbClr val="E88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83464"/>
            <a:ext cx="292608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5B6770"/>
                </a:solidFill>
                <a:latin typeface="Malgun Gothic"/>
              </a:rPr>
              <a:t>분석 준비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274320"/>
            <a:ext cx="54864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  <a:latin typeface="Malgun Gothic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8138160" cy="7772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8202A"/>
                </a:solidFill>
                <a:latin typeface="Malgun Gothic"/>
              </a:rPr>
              <a:t>문자로 들어온 매물 정보를 모델이 읽을 수 있게 정리했습니다.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89888"/>
            <a:ext cx="8869680" cy="4114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770"/>
                </a:solidFill>
                <a:latin typeface="Malgun Gothic"/>
              </a:rPr>
              <a:t>가격과 주행거리를 숫자로 바꾸고, 사고 여부 같은 판단 변수를 추가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57400"/>
            <a:ext cx="2468880" cy="1097280"/>
          </a:xfrm>
          <a:prstGeom prst="roundRect">
            <a:avLst/>
          </a:prstGeom>
          <a:solidFill>
            <a:srgbClr val="F5F7FA"/>
          </a:solidFill>
          <a:ln>
            <a:solidFill>
              <a:srgbClr val="D6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2185416"/>
            <a:ext cx="2212848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8202A"/>
                </a:solidFill>
                <a:latin typeface="Malgun Gothic"/>
              </a:rPr>
              <a:t>문자열 정제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2496312"/>
            <a:ext cx="2212848" cy="56692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770"/>
                </a:solidFill>
                <a:latin typeface="Malgun Gothic"/>
              </a:rPr>
              <a:t>$, 쉼표, mi. 제거 후 숫자형 변환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2152" y="2057400"/>
            <a:ext cx="2468880" cy="1097280"/>
          </a:xfrm>
          <a:prstGeom prst="roundRect">
            <a:avLst/>
          </a:prstGeom>
          <a:solidFill>
            <a:srgbClr val="EBF4FB"/>
          </a:solidFill>
          <a:ln>
            <a:solidFill>
              <a:srgbClr val="D6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2185416"/>
            <a:ext cx="2212848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8202A"/>
                </a:solidFill>
                <a:latin typeface="Malgun Gothic"/>
              </a:rPr>
              <a:t>통화 통일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496312"/>
            <a:ext cx="2212848" cy="56692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770"/>
                </a:solidFill>
                <a:latin typeface="Malgun Gothic"/>
              </a:rPr>
              <a:t>price_usd 보존, 고정 환율로 원화 변환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46120" y="2606040.0"/>
            <a:ext cx="256032" cy="0.0"/>
          </a:xfrm>
          <a:prstGeom prst="line">
            <a:avLst/>
          </a:prstGeom>
          <a:ln w="19050">
            <a:solidFill>
              <a:srgbClr val="5B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27064" y="2057400"/>
            <a:ext cx="2468880" cy="1097280"/>
          </a:xfrm>
          <a:prstGeom prst="roundRect">
            <a:avLst/>
          </a:prstGeom>
          <a:solidFill>
            <a:srgbClr val="FFF1E5"/>
          </a:solidFill>
          <a:ln>
            <a:solidFill>
              <a:srgbClr val="D6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185416"/>
            <a:ext cx="2212848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8202A"/>
                </a:solidFill>
                <a:latin typeface="Malgun Gothic"/>
              </a:rPr>
              <a:t>결측 처리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496312"/>
            <a:ext cx="2212848" cy="56692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770"/>
                </a:solidFill>
                <a:latin typeface="Malgun Gothic"/>
              </a:rPr>
              <a:t>연료, 사고, 타이틀, 변속기 Unknown 처리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71032" y="2606040.0"/>
            <a:ext cx="256032" cy="0.0"/>
          </a:xfrm>
          <a:prstGeom prst="line">
            <a:avLst/>
          </a:prstGeom>
          <a:ln w="19050">
            <a:solidFill>
              <a:srgbClr val="5B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951976" y="2057400"/>
            <a:ext cx="2468880" cy="1097280"/>
          </a:xfrm>
          <a:prstGeom prst="roundRect">
            <a:avLst/>
          </a:prstGeom>
          <a:solidFill>
            <a:srgbClr val="E9F6EF"/>
          </a:solidFill>
          <a:ln>
            <a:solidFill>
              <a:srgbClr val="D6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9992" y="2185416"/>
            <a:ext cx="2212848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8202A"/>
                </a:solidFill>
                <a:latin typeface="Malgun Gothic"/>
              </a:rPr>
              <a:t>변수 추가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2" y="2496312"/>
            <a:ext cx="2212848" cy="56692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770"/>
                </a:solidFill>
                <a:latin typeface="Malgun Gothic"/>
              </a:rPr>
              <a:t>차량 나이, 주행거리당 가격, 사고 여부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695944" y="2606040.0"/>
            <a:ext cx="256032" cy="0.0"/>
          </a:xfrm>
          <a:prstGeom prst="line">
            <a:avLst/>
          </a:prstGeom>
          <a:ln w="19050">
            <a:solidFill>
              <a:srgbClr val="5B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68680" y="4160520"/>
            <a:ext cx="219456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202A"/>
                </a:solidFill>
                <a:latin typeface="Malgun Gothic"/>
              </a:rPr>
              <a:t>모델에 넣기 전 정리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572000"/>
            <a:ext cx="9966960" cy="1353312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8202A"/>
                </a:solidFill>
                <a:latin typeface="Malgun Gothic"/>
              </a:defRPr>
            </a:pPr>
            <a:r>
              <a:t>• 연식과 주행거리는 숫자형 변수로 사용</a:t>
            </a:r>
          </a:p>
          <a:p>
            <a:pPr>
              <a:spcAft>
                <a:spcPts val="600"/>
              </a:spcAft>
              <a:defRPr sz="1400">
                <a:solidFill>
                  <a:srgbClr val="18202A"/>
                </a:solidFill>
                <a:latin typeface="Malgun Gothic"/>
              </a:defRPr>
            </a:pPr>
            <a:r>
              <a:t>• 브랜드, 모델, 연료, 변속기 등은 원-핫 인코딩</a:t>
            </a:r>
          </a:p>
          <a:p>
            <a:pPr>
              <a:spcAft>
                <a:spcPts val="600"/>
              </a:spcAft>
              <a:defRPr sz="1400">
                <a:solidFill>
                  <a:srgbClr val="18202A"/>
                </a:solidFill>
                <a:latin typeface="Malgun Gothic"/>
              </a:defRPr>
            </a:pPr>
            <a:r>
              <a:t>• 가격 분포가 한쪽으로 치우쳐 로그 변환 적용</a:t>
            </a:r>
          </a:p>
          <a:p>
            <a:pPr>
              <a:spcAft>
                <a:spcPts val="600"/>
              </a:spcAft>
              <a:defRPr sz="1400">
                <a:solidFill>
                  <a:srgbClr val="18202A"/>
                </a:solidFill>
                <a:latin typeface="Malgun Gothic"/>
              </a:defRPr>
            </a:pPr>
            <a:r>
              <a:t>• 환율 기준: 1 USD = 1,532.52원 (2026-06-04)</a:t>
            </a:r>
          </a:p>
          <a:p>
            <a:pPr>
              <a:spcAft>
                <a:spcPts val="600"/>
              </a:spcAft>
              <a:defRPr sz="1400">
                <a:solidFill>
                  <a:srgbClr val="18202A"/>
                </a:solidFill>
                <a:latin typeface="Malgun Gothic"/>
              </a:defRPr>
            </a:pPr>
            <a:r>
              <a:t>• 상위 1% 초고가 매물 93건은 학습에서 제외하고 따로 표시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47472"/>
            <a:ext cx="109728" cy="109728"/>
          </a:xfrm>
          <a:prstGeom prst="rect">
            <a:avLst/>
          </a:prstGeom>
          <a:solidFill>
            <a:srgbClr val="E88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83464"/>
            <a:ext cx="292608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5B6770"/>
                </a:solidFill>
                <a:latin typeface="Malgun Gothic"/>
              </a:rPr>
              <a:t>EDA 발견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274320"/>
            <a:ext cx="54864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  <a:latin typeface="Malgun Gothic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8138160" cy="7772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8202A"/>
                </a:solidFill>
                <a:latin typeface="Malgun Gothic"/>
              </a:rPr>
              <a:t>가격은 브랜드와 연식에 따라 확실히 달라졌습니다.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89888"/>
            <a:ext cx="8869680" cy="4114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770"/>
                </a:solidFill>
                <a:latin typeface="Malgun Gothic"/>
              </a:rPr>
              <a:t>초고가 매물이 평균을 흔들어서 일반 가격대는 따로 봐야 했음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85800" y="1874519"/>
          <a:ext cx="507492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172200" y="1874519"/>
          <a:ext cx="5074920" cy="3931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5989320"/>
            <a:ext cx="10607040" cy="5029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B6770"/>
                </a:solidFill>
                <a:latin typeface="Malgun Gothic"/>
              </a:defRPr>
            </a:pPr>
            <a:r>
              <a:t>상위 1% 초고가 매물은 따로 분리해 일반 매물과 구분</a:t>
            </a:r>
          </a:p>
          <a:p>
            <a:pPr>
              <a:spcAft>
                <a:spcPts val="600"/>
              </a:spcAft>
              <a:defRPr sz="1200">
                <a:solidFill>
                  <a:srgbClr val="5B6770"/>
                </a:solidFill>
                <a:latin typeface="Malgun Gothic"/>
              </a:defRPr>
            </a:pPr>
            <a:r>
              <a:t>최신 연식일수록 가격은 높고, 주행거리가 늘수록 가격은 낮아지는 경향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47472"/>
            <a:ext cx="109728" cy="109728"/>
          </a:xfrm>
          <a:prstGeom prst="rect">
            <a:avLst/>
          </a:prstGeom>
          <a:solidFill>
            <a:srgbClr val="E88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83464"/>
            <a:ext cx="292608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5B6770"/>
                </a:solidFill>
                <a:latin typeface="Malgun Gothic"/>
              </a:rPr>
              <a:t>예측 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274320"/>
            <a:ext cx="54864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  <a:latin typeface="Malgun Gothic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8138160" cy="7772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8202A"/>
                </a:solidFill>
                <a:latin typeface="Malgun Gothic"/>
              </a:rPr>
              <a:t>모델의 역할은 정답 맞히기가 아니라 비교 기준을 주는 것입니다.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89888"/>
            <a:ext cx="8869680" cy="4114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770"/>
                </a:solidFill>
                <a:latin typeface="Malgun Gothic"/>
              </a:rPr>
              <a:t>예측 가격과 유사 매물 평균을 함께 보여줘서 결과를 해석하게 구성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27889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929384"/>
            <a:ext cx="2459736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8202A"/>
                </a:solidFill>
                <a:latin typeface="Malgun Gothic"/>
              </a:rPr>
              <a:t>1498만원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313432"/>
            <a:ext cx="2459736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B6770"/>
                </a:solidFill>
                <a:latin typeface="Malgun Gothic"/>
              </a:rPr>
              <a:t>평균 절대 오차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606040"/>
            <a:ext cx="2459736" cy="29260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770"/>
                </a:solidFill>
                <a:latin typeface="Malgun Gothic"/>
              </a:rPr>
              <a:t>약 $9,777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1783080"/>
            <a:ext cx="27889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9352" y="1929384"/>
            <a:ext cx="2459736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8202A"/>
                </a:solidFill>
                <a:latin typeface="Malgun Gothic"/>
              </a:rPr>
              <a:t>0.677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9352" y="2313432"/>
            <a:ext cx="2459736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B6770"/>
                </a:solidFill>
                <a:latin typeface="Malgun Gothic"/>
              </a:rPr>
              <a:t>R² 설명력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9352" y="2606040"/>
            <a:ext cx="2459736" cy="29260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770"/>
                </a:solidFill>
                <a:latin typeface="Malgun Gothic"/>
              </a:rPr>
              <a:t>가격 변동의 일부 설명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1783080"/>
            <a:ext cx="27889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76872" y="1929384"/>
            <a:ext cx="2459736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8202A"/>
                </a:solidFill>
                <a:latin typeface="Malgun Gothic"/>
              </a:rPr>
              <a:t>93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76872" y="2313432"/>
            <a:ext cx="2459736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B6770"/>
                </a:solidFill>
                <a:latin typeface="Malgun Gothic"/>
              </a:rPr>
              <a:t>학습 제외 매물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6872" y="2606040"/>
            <a:ext cx="2459736" cy="29260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770"/>
                </a:solidFill>
                <a:latin typeface="Malgun Gothic"/>
              </a:rPr>
              <a:t>상위 1% 기준 $230,345+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246120"/>
            <a:ext cx="292608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8202A"/>
                </a:solidFill>
                <a:latin typeface="Malgun Gothic"/>
              </a:rPr>
              <a:t>RandomForest를 쓴 이유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11880"/>
            <a:ext cx="4754880" cy="100584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8202A"/>
                </a:solidFill>
                <a:latin typeface="Malgun Gothic"/>
              </a:defRPr>
            </a:pPr>
            <a:r>
              <a:t>• 브랜드와 모델처럼 범주형 변수가 많음</a:t>
            </a:r>
          </a:p>
          <a:p>
            <a:pPr>
              <a:spcAft>
                <a:spcPts val="600"/>
              </a:spcAft>
              <a:defRPr sz="1300">
                <a:solidFill>
                  <a:srgbClr val="18202A"/>
                </a:solidFill>
                <a:latin typeface="Malgun Gothic"/>
              </a:defRPr>
            </a:pPr>
            <a:r>
              <a:t>• 연식, 주행거리, 사고 이력 조합에 따라 가격이 달라짐</a:t>
            </a:r>
          </a:p>
          <a:p>
            <a:pPr>
              <a:spcAft>
                <a:spcPts val="600"/>
              </a:spcAft>
              <a:defRPr sz="1300">
                <a:solidFill>
                  <a:srgbClr val="18202A"/>
                </a:solidFill>
                <a:latin typeface="Malgun Gothic"/>
              </a:defRPr>
            </a:pPr>
            <a:r>
              <a:t>• 조건 조합별 가격 패턴을 비교적 유연하게 반영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246120"/>
            <a:ext cx="201168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8202A"/>
                </a:solidFill>
                <a:latin typeface="Malgun Gothic"/>
              </a:rPr>
              <a:t>결과 해석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611880"/>
            <a:ext cx="4754880" cy="100584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8202A"/>
                </a:solidFill>
                <a:latin typeface="Malgun Gothic"/>
              </a:defRPr>
            </a:pPr>
            <a:r>
              <a:t>• MAE 1,498만원은 작지 않은 오차</a:t>
            </a:r>
          </a:p>
          <a:p>
            <a:pPr>
              <a:spcAft>
                <a:spcPts val="600"/>
              </a:spcAft>
              <a:defRPr sz="1300">
                <a:solidFill>
                  <a:srgbClr val="18202A"/>
                </a:solidFill>
                <a:latin typeface="Malgun Gothic"/>
              </a:defRPr>
            </a:pPr>
            <a:r>
              <a:t>• R² 0.677로 가격 변동 일부를 설명</a:t>
            </a:r>
          </a:p>
          <a:p>
            <a:pPr>
              <a:spcAft>
                <a:spcPts val="600"/>
              </a:spcAft>
              <a:defRPr sz="1300">
                <a:solidFill>
                  <a:srgbClr val="18202A"/>
                </a:solidFill>
                <a:latin typeface="Malgun Gothic"/>
              </a:defRPr>
            </a:pPr>
            <a:r>
              <a:t>• 최종 결과는 참고 가격대로 보는 것이 적절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623560"/>
            <a:ext cx="932688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976D2"/>
                </a:solidFill>
                <a:latin typeface="Malgun Gothic"/>
              </a:rPr>
              <a:t>발표 포인트: 예측값 하나만 보여주지 않고, 비슷한 차량의 평균/중앙값과 같이 비교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" y="6345936"/>
            <a:ext cx="109728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5B6770"/>
                </a:solidFill>
                <a:latin typeface="Malgun Gothic"/>
              </a:rPr>
              <a:t>Source: Kaggle - Used Car Price Prediction Dataset by Taeef Najib
Additional data: CARFAX sample, EPA vehicle data, NHTSA recall summary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47472"/>
            <a:ext cx="109728" cy="109728"/>
          </a:xfrm>
          <a:prstGeom prst="rect">
            <a:avLst/>
          </a:prstGeom>
          <a:solidFill>
            <a:srgbClr val="E88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83464"/>
            <a:ext cx="292608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5B6770"/>
                </a:solidFill>
                <a:latin typeface="Malgun Gothic"/>
              </a:rPr>
              <a:t>앱 시연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274320"/>
            <a:ext cx="54864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  <a:latin typeface="Malgun Gothic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8138160" cy="7772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8202A"/>
                </a:solidFill>
                <a:latin typeface="Malgun Gothic"/>
              </a:rPr>
              <a:t>분석 결과를 사용자가 직접 눌러보고 비교할 수 있게 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89888"/>
            <a:ext cx="8869680" cy="4114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770"/>
                </a:solidFill>
                <a:latin typeface="Malgun Gothic"/>
              </a:rPr>
              <a:t>발표에서는 네 화면만 빠르게 보여주면 흐름이 잡힘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65960"/>
            <a:ext cx="4800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112264"/>
            <a:ext cx="4471416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976D2"/>
                </a:solidFill>
                <a:latin typeface="Malgun Gothic"/>
              </a:rPr>
              <a:t>EDA / 시각화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496312"/>
            <a:ext cx="4471416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B6770"/>
                </a:solidFill>
                <a:latin typeface="Malgun Gothic"/>
              </a:rPr>
              <a:t>가격 분포와 조건별 차이를 먼저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965960"/>
            <a:ext cx="4800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2112264"/>
            <a:ext cx="4471416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300" b="1">
                <a:solidFill>
                  <a:srgbClr val="2F8C5C"/>
                </a:solidFill>
                <a:latin typeface="Malgun Gothic"/>
              </a:rPr>
              <a:t>모델 / 예측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2496312"/>
            <a:ext cx="4471416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B6770"/>
                </a:solidFill>
                <a:latin typeface="Malgun Gothic"/>
              </a:rPr>
              <a:t>차량 조건을 넣고 예상 가격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657600"/>
            <a:ext cx="4800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803904"/>
            <a:ext cx="4471416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300" b="1">
                <a:solidFill>
                  <a:srgbClr val="E88741"/>
                </a:solidFill>
                <a:latin typeface="Malgun Gothic"/>
              </a:rPr>
              <a:t>추천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4187952"/>
            <a:ext cx="4471416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B6770"/>
                </a:solidFill>
                <a:latin typeface="Malgun Gothic"/>
              </a:rPr>
              <a:t>예산 이하에서 최신 연식·낮은 주행거리 우선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657600"/>
            <a:ext cx="4800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3803904"/>
            <a:ext cx="4471416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300" b="1">
                <a:solidFill>
                  <a:srgbClr val="C44646"/>
                </a:solidFill>
                <a:latin typeface="Malgun Gothic"/>
              </a:rPr>
              <a:t>구입 판독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4187952"/>
            <a:ext cx="4471416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B6770"/>
                </a:solidFill>
                <a:latin typeface="Malgun Gothic"/>
              </a:rPr>
              <a:t>예측가 대비 가격, 사고, 연비, 리콜을 함께 비교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60720"/>
            <a:ext cx="10149840" cy="31089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8202A"/>
                </a:solidFill>
                <a:latin typeface="Malgun Gothic"/>
              </a:rPr>
              <a:t>데모 순서: EDA 분포 → 브랜드/연식 필터 → 조건 입력 예측 → 예산 이하 추천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108192"/>
            <a:ext cx="10424160" cy="23774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Malgun Gothic"/>
              </a:rPr>
              <a:t>보조 기능: 한국 기준 보정은 기준가액 CSV가 있을 때만 쓰는 참고 비교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645920" cy="29260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BCD2E6"/>
                </a:solidFill>
                <a:latin typeface="Malgun Gothic"/>
              </a:rPr>
              <a:t>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9966960" cy="11887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algun Gothic"/>
              </a:rPr>
              <a:t>중고차 가격을 그냥 보는 것에서
조건별로 비교하고 판단하는 서비스로 만들었습니다.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26080"/>
            <a:ext cx="9966960" cy="16459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E6EEF5"/>
                </a:solidFill>
                <a:latin typeface="Malgun Gothic"/>
              </a:defRPr>
            </a:pPr>
            <a:r>
              <a:t>• 구현한 것: EDA, 시각화, 가격 예측, 추천, 구입 판독</a:t>
            </a:r>
          </a:p>
          <a:p>
            <a:pPr>
              <a:spcAft>
                <a:spcPts val="600"/>
              </a:spcAft>
              <a:defRPr sz="1800">
                <a:solidFill>
                  <a:srgbClr val="E6EEF5"/>
                </a:solidFill>
                <a:latin typeface="Malgun Gothic"/>
              </a:defRPr>
            </a:pPr>
            <a:r>
              <a:t>• 확인한 것: 브랜드, 연식, 주행거리, 사고 이력에 따른 가격 차이</a:t>
            </a:r>
          </a:p>
          <a:p>
            <a:pPr>
              <a:spcAft>
                <a:spcPts val="600"/>
              </a:spcAft>
              <a:defRPr sz="1800">
                <a:solidFill>
                  <a:srgbClr val="E6EEF5"/>
                </a:solidFill>
                <a:latin typeface="Malgun Gothic"/>
              </a:defRPr>
            </a:pPr>
            <a:r>
              <a:t>• 한계: 옵션·지역·판매자 정보와 실시간성이 부족함</a:t>
            </a:r>
          </a:p>
          <a:p>
            <a:pPr>
              <a:spcAft>
                <a:spcPts val="600"/>
              </a:spcAft>
              <a:defRPr sz="1800">
                <a:solidFill>
                  <a:srgbClr val="E6EEF5"/>
                </a:solidFill>
                <a:latin typeface="Malgun Gothic"/>
              </a:defRPr>
            </a:pPr>
            <a:r>
              <a:t>• 주의: 해외 데이터 기반이라 한국 원화 가격 해석에는 시장 차이가 있음</a:t>
            </a:r>
          </a:p>
          <a:p>
            <a:pPr>
              <a:spcAft>
                <a:spcPts val="600"/>
              </a:spcAft>
              <a:defRPr sz="1800">
                <a:solidFill>
                  <a:srgbClr val="E6EEF5"/>
                </a:solidFill>
                <a:latin typeface="Malgun Gothic"/>
              </a:defRPr>
            </a:pPr>
            <a:r>
              <a:t>• 개선 방향: 실제 매물, 옵션 데이터, 비교 모델을 추가해 신뢰도 높이기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5806440"/>
            <a:ext cx="2926080" cy="3657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